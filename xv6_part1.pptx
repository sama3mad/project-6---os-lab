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73" r:id="rId14"/>
    <p:sldId id="269" r:id="rId15"/>
    <p:sldId id="270" r:id="rId16"/>
    <p:sldId id="271" r:id="rId17"/>
    <p:sldId id="272" r:id="rId18"/>
    <p:sldId id="26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248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41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10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5ACC0-A783-4739-E6DE-C4873B964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5EAED-6665-D943-70A8-3B0512D3A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0301E-2A80-ED20-16F8-749104C6F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C98F2-DC4B-AE9C-00C6-BDD4431B9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5299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E75E4-59F0-6996-C393-5C4730BD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692FB-9556-57A5-9C49-26F6E8189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73449-9EC7-CB9E-473A-D883CEC04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ED62-8738-E7ED-06F3-74B9385C6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955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B7D9-7C9A-F7C2-D64A-F96591AC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82C2B-6D8E-B33B-97A6-7779EF5B5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E3A78-4E70-D0AF-23CB-A78592438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DA8E0-05ED-E4E8-53E1-AEF3F09DC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484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4C2F-8369-44E1-BE6A-6D5AD50BC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56C79-7277-2629-5CD1-AC16219A1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CF890-ED23-439A-D728-C288CA0D2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D3E7F-7617-257F-65E4-EAC4DAE93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3225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47FE-96C1-7336-1288-E4EDF581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C7EFF-D281-16BF-D311-47A70B706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60A64-ECC1-DA16-2EF2-631312113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0CEA9-5104-DE2F-A00B-1BD7B98ACD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537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36E97-76BF-35C1-AE3D-4CF408A5B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745D0-7DF7-740F-13D3-050F2D8B3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5E303-DED9-7598-EBAA-8EDBDA735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8D0CA-843B-4878-802C-8355BB83E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518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312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Lab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859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6: scheduling in xv6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Lab  •  Sama | Yara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Roles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749040" cy="3474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749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Abu Zahra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200" dirty="0"/>
              <a:t>Added a numeric priority attribute to processes.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200" dirty="0"/>
              <a:t>Added the two system calls.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200" dirty="0"/>
              <a:t>For each of the 2 system calls, I created a user program.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200" dirty="0"/>
              <a:t>Provide tests for the 2 user programs.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200" dirty="0"/>
              <a:t>Finished part 1 slides in </a:t>
            </a:r>
            <a:r>
              <a:rPr lang="en-US" sz="1200"/>
              <a:t>the presentation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914400"/>
            <a:ext cx="3749040" cy="3474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937760" y="914400"/>
            <a:ext cx="37490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932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2 schedulers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2 schedulers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part 2 slides in the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312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859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81425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 Files Modified &amp; Added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6850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int priority field to struct proc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default priority in allocproc(); added setpriority() &amp; printptable()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sysproc.c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sys_setpriority() &amp; sys_printptable() wrappers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syscall.h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unique numbers to the 2 new syscalls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syscall.c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the new syscall functions in the dispatch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user.h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Declared new syscalls so user programs can call them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usys.S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assembly stubs for the 2 new syscalls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4 new programs to the UPROGS build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setpriority.c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program: change a process's priority from the shell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printptable.c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program: print the process table from the shell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test_setpriority.c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program for setpriority syscall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test_printptable.c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program for printptable syscall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Semantics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Priority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(runs first)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914400"/>
            <a:ext cx="26517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91440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Priority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every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914400"/>
            <a:ext cx="26517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91440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Priority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40080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priority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(runs last)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813816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priority  ←————————————→  Lower priority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setpriority() rejects any value outside 0–10 and returns -1. Valid input returns the old priority.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Priorities Are Initialized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5448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 Boots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is the first process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after boot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47088" y="1691640"/>
            <a:ext cx="146304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93392" y="1005840"/>
            <a:ext cx="155448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39112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allocproc()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39112" y="14813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every time a new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is being created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1691640"/>
            <a:ext cx="146304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12464" y="1005840"/>
            <a:ext cx="155448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58184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p-&gt;priority =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184" y="14813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priority assigned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allocproc()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85232" y="1691640"/>
            <a:ext cx="146304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31536" y="1005840"/>
            <a:ext cx="155448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77256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called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77256" y="14813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created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allocproc()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04304" y="1691640"/>
            <a:ext cx="146304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50608" y="1005840"/>
            <a:ext cx="155448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96328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gets priority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96328" y="14813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 starts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default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651760"/>
            <a:ext cx="859536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724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allocproc() in proc.c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01752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p-&gt;context-&gt;eip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(uint)</a:t>
            </a: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forkret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p-&gt;priority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new process starts at priority 5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p;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Pseudo-code: setpriority(pid, new_priority)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setpriority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(pid, new_priority):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new_priority &lt; 0  OR  new_priority &gt; 10: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-1   </a:t>
            </a: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invalid range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pid &lt;= 0: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-1   </a:t>
            </a: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invalid pid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lock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(ptable)   </a:t>
            </a: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protect the process table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each process p in ptable: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p.pid == pid: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old_priority = p.priority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p.priority  = new_priority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unlock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(ptable)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old_priority   </a:t>
            </a: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success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unlock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(ptable)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-1   </a:t>
            </a: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pid not found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Pseudo-code: printptable()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printptable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"name  pid  state  priority"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"-------------------------------"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lock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(ptable)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each process p in ptable: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p.state == UNUSED: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   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skip empty slots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(p.name, p.pid, p.state, p.priority)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unlock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(ptable)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86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test_setpriority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our own priority to 3  →  PASSED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 7 (verify old value returned)  →  PASSED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99 (out of range)  →  Rejected ✓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-5 (negative)  →  Rejected ✓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9999 (doesn't exist)  →  Rejected ✓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6: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child, set child priority  →  PASSED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886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test_printptable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3 child processes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children to priorities 1, 5, 9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printptable()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entries: parent + 3 children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Different pids, same name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Priorities shown as 5, 1, 5, 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printptable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pid  state     priority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         1  SLEEPING        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           2  SLEEPING        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printptable  3  RUNNING         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test_setpriority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02336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1: priority 5 → 3  PASSED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2: priority 3 → 7  PASSED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3: pr=99 rejected  PASSED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4: pr=-5 rejected  PASSED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5: pid=9999 miss   PASSED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6: child pr → 1   PASSED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All tests done ===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840480"/>
            <a:ext cx="859536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pass. The process table correctly shows all active processes with their priorities. UNUSED slots are skipped.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2A2DD04-623A-45D4-8398-12256E6CE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6" y="795745"/>
            <a:ext cx="3985622" cy="35520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3702669-9730-485A-A814-A3C3CE0B0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054" y="849931"/>
            <a:ext cx="4869520" cy="18683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D79841-38C5-4C10-B614-509B7505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053" y="2813406"/>
            <a:ext cx="4869520" cy="148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7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7D20C-A789-40DB-38F0-22C5B001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932E48-E518-43E1-2665-B6F18DA964CA}"/>
              </a:ext>
            </a:extLst>
          </p:cNvPr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27769C-2662-018F-EDCA-A6E2E8723DC3}"/>
              </a:ext>
            </a:extLst>
          </p:cNvPr>
          <p:cNvSpPr/>
          <p:nvPr/>
        </p:nvSpPr>
        <p:spPr>
          <a:xfrm>
            <a:off x="640080" y="12312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B8D11B-7182-AE45-A651-7826A4DD3B6C}"/>
              </a:ext>
            </a:extLst>
          </p:cNvPr>
          <p:cNvSpPr/>
          <p:nvPr/>
        </p:nvSpPr>
        <p:spPr>
          <a:xfrm>
            <a:off x="640080" y="14859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547FF3-77FC-D8C4-0C97-FBEC05BF30E8}"/>
              </a:ext>
            </a:extLst>
          </p:cNvPr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36E38B0-B47F-91D5-DF17-30DF28A83ADC}"/>
              </a:ext>
            </a:extLst>
          </p:cNvPr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916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535AE-46CF-F8F8-0DE4-483218D1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D8F6D6-4129-C462-CF1E-E5022FB7B92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DF340C-E97B-64AE-E1A8-96707BC06731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AD75FC-5B5C-EE16-F335-6A5BADDE20E6}"/>
              </a:ext>
            </a:extLst>
          </p:cNvPr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xv6 Files Modified &amp; Added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30872B0C-9C2A-2E08-75CD-3D640071E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5781"/>
              </p:ext>
            </p:extLst>
          </p:nvPr>
        </p:nvGraphicFramePr>
        <p:xfrm>
          <a:off x="700495" y="1051560"/>
          <a:ext cx="7743009" cy="3311434"/>
        </p:xfrm>
        <a:graphic>
          <a:graphicData uri="http://schemas.openxmlformats.org/drawingml/2006/table">
            <a:tbl>
              <a:tblPr/>
              <a:tblGrid>
                <a:gridCol w="3860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2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27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018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priority based: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Edited the </a:t>
                      </a:r>
                      <a:r>
                        <a:rPr lang="en-US" sz="1400" u="sng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scheduler()</a:t>
                      </a:r>
                      <a:r>
                        <a:rPr lang="en-US" sz="1400" u="none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in 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proc.c</a:t>
                      </a:r>
                      <a:endParaRPr lang="en-US" sz="1400" dirty="0">
                        <a:solidFill>
                          <a:srgbClr val="00B0F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the user programs </a:t>
                      </a:r>
                      <a:r>
                        <a:rPr lang="en-US" sz="1400" dirty="0" err="1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test_setpriority.c</a:t>
                      </a: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&amp; </a:t>
                      </a:r>
                      <a:r>
                        <a:rPr lang="en-US" sz="1400" dirty="0" err="1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test_printptable.c</a:t>
                      </a: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with the two schedulers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total wait time for the two schedulers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6722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priority based: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Edited the </a:t>
                      </a:r>
                      <a:r>
                        <a:rPr lang="en-US" sz="1400" u="sng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scheduler()</a:t>
                      </a: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function in 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proc.c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Added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max_priority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attribute for struct proc in 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proc.h</a:t>
                      </a:r>
                      <a:endParaRPr lang="en-US" sz="1400" dirty="0">
                        <a:solidFill>
                          <a:srgbClr val="00B0F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Initialized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max_priority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with 10 in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allocproc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() in 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proc.c</a:t>
                      </a:r>
                      <a:endParaRPr lang="en-US" sz="1400" dirty="0">
                        <a:solidFill>
                          <a:srgbClr val="00B0F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Updated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max_priority’s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value in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setpriority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() in 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proc.c</a:t>
                      </a:r>
                      <a:endParaRPr lang="en-US" sz="1400" dirty="0">
                        <a:solidFill>
                          <a:srgbClr val="00B0F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613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05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3A5DD-B363-72CF-2C87-A6272FA62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0BA673-7314-5428-61F9-0BED86528B4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971CF8-D360-C1AC-A2BE-8410584E1FAE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65F6DC-463D-3EF5-BB5B-30392C4C229C}"/>
              </a:ext>
            </a:extLst>
          </p:cNvPr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Priority Based Scheduling - Pseudocode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4E7FDB0-9383-353D-FA86-D4B2C348E5FF}"/>
              </a:ext>
            </a:extLst>
          </p:cNvPr>
          <p:cNvSpPr/>
          <p:nvPr/>
        </p:nvSpPr>
        <p:spPr>
          <a:xfrm>
            <a:off x="380455" y="868680"/>
            <a:ext cx="4718142" cy="3977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i="1" dirty="0" err="1">
                <a:solidFill>
                  <a:srgbClr val="00B050"/>
                </a:solidFill>
              </a:rPr>
              <a:t>highprproc</a:t>
            </a:r>
            <a:r>
              <a:rPr lang="en-US" dirty="0"/>
              <a:t> with 0 and </a:t>
            </a:r>
            <a:r>
              <a:rPr lang="en-US" i="1" dirty="0" err="1">
                <a:solidFill>
                  <a:srgbClr val="00B050"/>
                </a:solidFill>
              </a:rPr>
              <a:t>highestpr</a:t>
            </a:r>
            <a:r>
              <a:rPr lang="en-US" dirty="0"/>
              <a:t> with 11 (lowest than the lowest value)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Iterate through the </a:t>
            </a:r>
            <a:r>
              <a:rPr lang="en-US" i="1" dirty="0" err="1"/>
              <a:t>ptable</a:t>
            </a:r>
            <a:r>
              <a:rPr lang="en-US" dirty="0"/>
              <a:t> circularly from </a:t>
            </a:r>
            <a:r>
              <a:rPr lang="en-US" i="1" dirty="0">
                <a:solidFill>
                  <a:srgbClr val="00B050"/>
                </a:solidFill>
              </a:rPr>
              <a:t>last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you find a </a:t>
            </a:r>
            <a:r>
              <a:rPr lang="en-US" i="1" dirty="0"/>
              <a:t>runnable</a:t>
            </a:r>
            <a:r>
              <a:rPr lang="en-US" dirty="0"/>
              <a:t> process with higher priority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Update </a:t>
            </a:r>
            <a:r>
              <a:rPr lang="en-US" i="1" dirty="0" err="1">
                <a:solidFill>
                  <a:srgbClr val="00B050"/>
                </a:solidFill>
              </a:rPr>
              <a:t>highespr</a:t>
            </a:r>
            <a:r>
              <a:rPr lang="en-US" dirty="0"/>
              <a:t> and </a:t>
            </a:r>
            <a:r>
              <a:rPr lang="en-US" i="1" dirty="0" err="1">
                <a:solidFill>
                  <a:srgbClr val="00B050"/>
                </a:solidFill>
              </a:rPr>
              <a:t>highprproc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i="1" dirty="0" err="1">
                <a:solidFill>
                  <a:srgbClr val="00B050"/>
                </a:solidFill>
              </a:rPr>
              <a:t>highprproc</a:t>
            </a:r>
            <a:r>
              <a:rPr lang="en-US" dirty="0"/>
              <a:t> was updated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Update </a:t>
            </a:r>
            <a:r>
              <a:rPr lang="en-US" i="1" dirty="0">
                <a:solidFill>
                  <a:srgbClr val="00B050"/>
                </a:solidFill>
              </a:rPr>
              <a:t>last</a:t>
            </a:r>
            <a:r>
              <a:rPr lang="en-US" dirty="0"/>
              <a:t> to point to the next </a:t>
            </a:r>
            <a:r>
              <a:rPr lang="en-US" dirty="0" err="1"/>
              <a:t>pcb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Update current process to </a:t>
            </a:r>
            <a:r>
              <a:rPr lang="en-US" i="1" dirty="0" err="1">
                <a:solidFill>
                  <a:srgbClr val="00B050"/>
                </a:solidFill>
              </a:rPr>
              <a:t>highprproc</a:t>
            </a:r>
            <a:r>
              <a:rPr lang="en-US" dirty="0"/>
              <a:t> and change context to 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958F0-73A6-7808-4E56-9A8BD10E21FA}"/>
              </a:ext>
            </a:extLst>
          </p:cNvPr>
          <p:cNvSpPr txBox="1"/>
          <p:nvPr/>
        </p:nvSpPr>
        <p:spPr>
          <a:xfrm>
            <a:off x="5401442" y="954323"/>
            <a:ext cx="35413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Note</a:t>
            </a:r>
          </a:p>
          <a:p>
            <a:r>
              <a:rPr lang="en-US" b="1" dirty="0"/>
              <a:t>Role of </a:t>
            </a:r>
            <a:r>
              <a:rPr lang="en-US" b="1" i="1" dirty="0">
                <a:solidFill>
                  <a:srgbClr val="00B050"/>
                </a:solidFill>
              </a:rPr>
              <a:t>last</a:t>
            </a:r>
            <a:r>
              <a:rPr lang="en-US" b="1" dirty="0"/>
              <a:t>:</a:t>
            </a:r>
          </a:p>
          <a:p>
            <a:r>
              <a:rPr lang="en-US" dirty="0"/>
              <a:t>If we start iterating from the beginning of the </a:t>
            </a:r>
            <a:r>
              <a:rPr lang="en-US" dirty="0" err="1"/>
              <a:t>ptable</a:t>
            </a:r>
            <a:r>
              <a:rPr lang="en-US" dirty="0"/>
              <a:t> each time, we won’t iterate </a:t>
            </a:r>
            <a:r>
              <a:rPr lang="en-US" dirty="0" err="1"/>
              <a:t>iterate</a:t>
            </a:r>
            <a:r>
              <a:rPr lang="en-US" dirty="0"/>
              <a:t> through different processes with the same priority, however this way we implement a Round Robin technique within processes of the same priority</a:t>
            </a:r>
          </a:p>
        </p:txBody>
      </p:sp>
    </p:spTree>
    <p:extLst>
      <p:ext uri="{BB962C8B-B14F-4D97-AF65-F5344CB8AC3E}">
        <p14:creationId xmlns:p14="http://schemas.microsoft.com/office/powerpoint/2010/main" val="2902513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472E2-E59B-8B3E-8DF9-EC5C836A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F39EB4-4532-DEE7-02B7-971B7A9711D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9ED55-581C-3842-1676-50C127536D54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B8A46A-15F8-2F25-CB30-853D5D922917}"/>
              </a:ext>
            </a:extLst>
          </p:cNvPr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Based Scheduling </a:t>
            </a:r>
            <a:r>
              <a:rPr lang="en-US" sz="22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Decay </a:t>
            </a: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Pseudocode</a:t>
            </a:r>
            <a:endParaRPr lang="en-US" sz="2200" dirty="0">
              <a:solidFill>
                <a:prstClr val="black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9150E08-D2DC-4C24-ABCB-4B57A10E94BC}"/>
              </a:ext>
            </a:extLst>
          </p:cNvPr>
          <p:cNvSpPr/>
          <p:nvPr/>
        </p:nvSpPr>
        <p:spPr>
          <a:xfrm>
            <a:off x="380455" y="868680"/>
            <a:ext cx="4718142" cy="3977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i="1" dirty="0" err="1">
                <a:solidFill>
                  <a:srgbClr val="00B050"/>
                </a:solidFill>
              </a:rPr>
              <a:t>highprproc</a:t>
            </a:r>
            <a:r>
              <a:rPr lang="en-US" dirty="0"/>
              <a:t> with 0 and </a:t>
            </a:r>
            <a:r>
              <a:rPr lang="en-US" i="1" dirty="0" err="1">
                <a:solidFill>
                  <a:srgbClr val="00B050"/>
                </a:solidFill>
              </a:rPr>
              <a:t>highestpr</a:t>
            </a:r>
            <a:r>
              <a:rPr lang="en-US" dirty="0"/>
              <a:t> with 11 (lowest than the lowest value)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Iterate through the </a:t>
            </a:r>
            <a:r>
              <a:rPr lang="en-US" i="1" dirty="0" err="1"/>
              <a:t>ptable</a:t>
            </a:r>
            <a:r>
              <a:rPr lang="en-US" dirty="0"/>
              <a:t> circularly from </a:t>
            </a:r>
            <a:r>
              <a:rPr lang="en-US" i="1" dirty="0">
                <a:solidFill>
                  <a:srgbClr val="00B050"/>
                </a:solidFill>
              </a:rPr>
              <a:t>last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you find a </a:t>
            </a:r>
            <a:r>
              <a:rPr lang="en-US" i="1" dirty="0"/>
              <a:t>runnable</a:t>
            </a:r>
            <a:r>
              <a:rPr lang="en-US" dirty="0"/>
              <a:t> process with higher priority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Update </a:t>
            </a:r>
            <a:r>
              <a:rPr lang="en-US" i="1" dirty="0" err="1">
                <a:solidFill>
                  <a:srgbClr val="00B050"/>
                </a:solidFill>
              </a:rPr>
              <a:t>highespr</a:t>
            </a:r>
            <a:r>
              <a:rPr lang="en-US" dirty="0"/>
              <a:t> and </a:t>
            </a:r>
            <a:r>
              <a:rPr lang="en-US" i="1" dirty="0" err="1">
                <a:solidFill>
                  <a:srgbClr val="00B050"/>
                </a:solidFill>
              </a:rPr>
              <a:t>highprproc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i="1" dirty="0" err="1">
                <a:solidFill>
                  <a:srgbClr val="00B050"/>
                </a:solidFill>
              </a:rPr>
              <a:t>highprproc</a:t>
            </a:r>
            <a:r>
              <a:rPr lang="en-US" dirty="0"/>
              <a:t> was updated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Update </a:t>
            </a:r>
            <a:r>
              <a:rPr lang="en-US" i="1" dirty="0">
                <a:solidFill>
                  <a:srgbClr val="00B050"/>
                </a:solidFill>
              </a:rPr>
              <a:t>last</a:t>
            </a:r>
            <a:r>
              <a:rPr lang="en-US" dirty="0"/>
              <a:t> to point to the next </a:t>
            </a:r>
            <a:r>
              <a:rPr lang="en-US" dirty="0" err="1"/>
              <a:t>pcb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Update current process to </a:t>
            </a:r>
            <a:r>
              <a:rPr lang="en-US" i="1" dirty="0" err="1">
                <a:solidFill>
                  <a:srgbClr val="00B050"/>
                </a:solidFill>
              </a:rPr>
              <a:t>highprproc</a:t>
            </a:r>
            <a:r>
              <a:rPr lang="en-US" dirty="0"/>
              <a:t> and change context to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Update the priority of </a:t>
            </a:r>
            <a:r>
              <a:rPr lang="en-US" b="1" i="1" dirty="0" err="1">
                <a:solidFill>
                  <a:srgbClr val="00B050"/>
                </a:solidFill>
              </a:rPr>
              <a:t>highprproc</a:t>
            </a:r>
            <a:r>
              <a:rPr lang="en-US" b="1" i="1" dirty="0">
                <a:solidFill>
                  <a:srgbClr val="00B050"/>
                </a:solidFill>
              </a:rPr>
              <a:t> </a:t>
            </a:r>
            <a:r>
              <a:rPr lang="en-US" b="1" dirty="0"/>
              <a:t>according to </a:t>
            </a:r>
            <a:r>
              <a:rPr lang="en-US" b="1" i="1" dirty="0" err="1">
                <a:solidFill>
                  <a:srgbClr val="00B050"/>
                </a:solidFill>
              </a:rPr>
              <a:t>max_priority</a:t>
            </a:r>
            <a:r>
              <a:rPr lang="en-US" b="1" i="1" dirty="0">
                <a:solidFill>
                  <a:srgbClr val="00B050"/>
                </a:solidFill>
              </a:rPr>
              <a:t> </a:t>
            </a:r>
            <a:r>
              <a:rPr lang="en-US" b="1" dirty="0"/>
              <a:t>and its current priority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7D43D8-AFAB-9619-0A0F-5A85BABEEA56}"/>
              </a:ext>
            </a:extLst>
          </p:cNvPr>
          <p:cNvSpPr txBox="1"/>
          <p:nvPr/>
        </p:nvSpPr>
        <p:spPr>
          <a:xfrm>
            <a:off x="5245403" y="1015068"/>
            <a:ext cx="35181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How was the new priority set?</a:t>
            </a:r>
          </a:p>
          <a:p>
            <a:r>
              <a:rPr lang="en-US" dirty="0"/>
              <a:t>If priority is less than 5 (high):</a:t>
            </a:r>
          </a:p>
          <a:p>
            <a:r>
              <a:rPr lang="en-US" dirty="0"/>
              <a:t>It’s only incremented if ticks%2 = 0 (occasionally)</a:t>
            </a:r>
          </a:p>
          <a:p>
            <a:r>
              <a:rPr lang="en-US" dirty="0"/>
              <a:t>Otherwise (low priority) the priority is incremented regardless of ticks</a:t>
            </a:r>
          </a:p>
          <a:p>
            <a:r>
              <a:rPr lang="en-US" dirty="0"/>
              <a:t>In both cases, we won’t increment the priority if it already reached </a:t>
            </a:r>
            <a:r>
              <a:rPr lang="en-US" dirty="0" err="1"/>
              <a:t>max_priority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How was </a:t>
            </a:r>
            <a:r>
              <a:rPr lang="en-US" b="1" dirty="0" err="1"/>
              <a:t>max_priority</a:t>
            </a:r>
            <a:r>
              <a:rPr lang="en-US" b="1" dirty="0"/>
              <a:t> set?</a:t>
            </a:r>
          </a:p>
          <a:p>
            <a:r>
              <a:rPr lang="en-US" dirty="0"/>
              <a:t>The default value is 10 (so priority would go from 5 to 10)</a:t>
            </a:r>
          </a:p>
          <a:p>
            <a:r>
              <a:rPr lang="en-US" dirty="0"/>
              <a:t>When </a:t>
            </a:r>
            <a:r>
              <a:rPr lang="en-US" dirty="0" err="1"/>
              <a:t>setpriority</a:t>
            </a:r>
            <a:r>
              <a:rPr lang="en-US" dirty="0"/>
              <a:t> is called, it is set to the new priority + 6</a:t>
            </a:r>
          </a:p>
        </p:txBody>
      </p:sp>
    </p:spTree>
    <p:extLst>
      <p:ext uri="{BB962C8B-B14F-4D97-AF65-F5344CB8AC3E}">
        <p14:creationId xmlns:p14="http://schemas.microsoft.com/office/powerpoint/2010/main" val="406425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24855-3E46-2D0D-6AB9-845DDF85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15C673-BF6B-FD8D-1DB6-7AD8D8776128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2F4616-844B-E1DB-ADD6-FF0B173FC888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A7A93E-B7E0-8D90-ABCE-7CAC3ADDA806}"/>
              </a:ext>
            </a:extLst>
          </p:cNvPr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Tests using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test_printptable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985CA-22B8-49D7-E96A-D1A233739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602" y="51535"/>
            <a:ext cx="2775948" cy="3106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365128-7C79-D86E-89A5-CDCB54E45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341" y="2375132"/>
            <a:ext cx="2735724" cy="25282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57E0D1-BB94-D5DD-A8AF-04F096D7A578}"/>
              </a:ext>
            </a:extLst>
          </p:cNvPr>
          <p:cNvSpPr txBox="1"/>
          <p:nvPr/>
        </p:nvSpPr>
        <p:spPr>
          <a:xfrm>
            <a:off x="768965" y="763399"/>
            <a:ext cx="107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Decay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3BE151-398B-F29D-DF4B-A25DF1AB2CDC}"/>
              </a:ext>
            </a:extLst>
          </p:cNvPr>
          <p:cNvSpPr txBox="1"/>
          <p:nvPr/>
        </p:nvSpPr>
        <p:spPr>
          <a:xfrm>
            <a:off x="4853031" y="847288"/>
            <a:ext cx="1258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Decay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075C42-5249-3932-88BA-33E1F5BA6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61" y="1132731"/>
            <a:ext cx="3677345" cy="41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37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5F54-B342-19C5-4AAD-B83051224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0FE23B-1299-15E8-FCB0-FE045143E95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3E70B5-2CB9-F334-2CFC-42979A988833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81ED4F-5086-5C33-6E74-EB2EC7EE2DCE}"/>
              </a:ext>
            </a:extLst>
          </p:cNvPr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Tests using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test_setpriority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97312B-3E08-86E2-0B27-3B1E675B9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789" y="1031846"/>
            <a:ext cx="4371014" cy="372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835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19697" y="202311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1261</Words>
  <Application>Microsoft Office PowerPoint</Application>
  <PresentationFormat>On-screen Show (16:9)</PresentationFormat>
  <Paragraphs>235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xv6 OS Lab – Part 1</dc:title>
  <dc:subject>PptxGenJS Presentation</dc:subject>
  <dc:creator>PptxGenJS</dc:creator>
  <cp:lastModifiedBy>Yara2005</cp:lastModifiedBy>
  <cp:revision>9</cp:revision>
  <dcterms:created xsi:type="dcterms:W3CDTF">2026-04-26T17:33:09Z</dcterms:created>
  <dcterms:modified xsi:type="dcterms:W3CDTF">2026-04-27T21:03:43Z</dcterms:modified>
</cp:coreProperties>
</file>